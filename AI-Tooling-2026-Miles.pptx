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er de grove trekkene på hva som har skjedd. Merk den bemerkelsesverdig korte tidslinjen vi opererer innenfor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det blir billigere og lettere å produsere kode, betyr _ikke nødvendigvis_ at vi trenger færre programmerere.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Historien fra "Art &amp; Fear" av David Bayles og Ted Orland viser hvordan learning by doing, iterativ utvikling og mange små eksperimenter gir bedre resultater enn teoretisering om perfeksjon. Mens kvalitetsgruppen planla, lærte kvantitetsgruppen gjennom praksis og ble gradvis bedre. Dette passer perfekt til agile prinsipper, MVP-mentalitet og moderne programvareutvikling.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noen år siden kunne du drifte en webside med en ensom web-master, i dag får du til det samme med et lite team på fem personer. Med våre nye verktøy kan en enkeltutvikler bygge ganske omfattende og velfungerende løsninger på egenhånd. SAMTIDIG er kravene til domenekunskap, sikkerhet, design, UU, forvaltning over tid, etc. slik at vi ofte trenger tung spesialkompetanse for å bygge det vi reelt sett trenger. Disse to datapunktene er sanne samtidig.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viktigste miljøaspektet av vår kode er ikke hvordan vi bygger det, men hva vi bygger. Den virkelige verdien av Kolumbus-teamet vårt er at flere folk i Rogaland tar bussen (for å ta et lavthengende eksempel).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Artikkel fra DN om hvordan man skal bruke KI som et verktøy for egen tenkning, ikke bare som en erstatning for tenkning. Ellers vil andres systemer og prioriteringer gradvis styre arbeidet ditt.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50D20"/>
        </a:solidFill>
      </p:bgPr>
    </p:bg>
    <p:spTree>
      <p:nvGrpSpPr>
        <p:cNvPr id="1" name=""/>
        <p:cNvGrpSpPr/>
        <p:nvPr/>
      </p:nvGrpSpPr>
      <p:grpSpPr>
        <a:xfrm>
          <a:off x="0" y="0"/>
          <a:ext cx="0" cy="0"/>
          <a:chOff x="0" y="0"/>
          <a:chExt cx="0" cy="0"/>
        </a:xfrm>
      </p:grpSpPr>
      <p:sp>
        <p:nvSpPr>
          <p:cNvPr id="2" name="Text 0"/>
          <p:cNvSpPr/>
          <p:nvPr/>
        </p:nvSpPr>
        <p:spPr>
          <a:xfrm>
            <a:off x="457200" y="1371600"/>
            <a:ext cx="5486400" cy="1097280"/>
          </a:xfrm>
          <a:prstGeom prst="rect">
            <a:avLst/>
          </a:prstGeom>
          <a:noFill/>
          <a:ln/>
        </p:spPr>
        <p:txBody>
          <a:bodyPr wrap="square" rtlCol="0" anchor="ctr"/>
          <a:lstStyle/>
          <a:p>
            <a:pPr indent="0" marL="0">
              <a:buNone/>
            </a:pPr>
            <a:r>
              <a:rPr lang="en-US" sz="4400" b="1" dirty="0">
                <a:solidFill>
                  <a:srgbClr val="FBF0E5"/>
                </a:solidFill>
                <a:latin typeface="Calibri" pitchFamily="34" charset="0"/>
                <a:ea typeface="Calibri" pitchFamily="34" charset="-122"/>
                <a:cs typeface="Calibri" pitchFamily="34" charset="-120"/>
              </a:rPr>
              <a:t>AI &amp; AI Tooling 2026</a:t>
            </a:r>
            <a:endParaRPr lang="en-US" sz="4400" dirty="0"/>
          </a:p>
        </p:txBody>
      </p:sp>
      <p:sp>
        <p:nvSpPr>
          <p:cNvPr id="3" name="Text 1"/>
          <p:cNvSpPr/>
          <p:nvPr/>
        </p:nvSpPr>
        <p:spPr>
          <a:xfrm>
            <a:off x="457200" y="2560320"/>
            <a:ext cx="5486400" cy="548640"/>
          </a:xfrm>
          <a:prstGeom prst="rect">
            <a:avLst/>
          </a:prstGeom>
          <a:noFill/>
          <a:ln/>
        </p:spPr>
        <p:txBody>
          <a:bodyPr wrap="square" rtlCol="0" anchor="ctr"/>
          <a:lstStyle/>
          <a:p>
            <a:pPr indent="0" marL="0">
              <a:buNone/>
            </a:pPr>
            <a:r>
              <a:rPr lang="en-US" sz="2400" dirty="0">
                <a:solidFill>
                  <a:srgbClr val="FBF0E5"/>
                </a:solidFill>
                <a:latin typeface="Calibri" pitchFamily="34" charset="0"/>
                <a:ea typeface="Calibri" pitchFamily="34" charset="-122"/>
                <a:cs typeface="Calibri" pitchFamily="34" charset="-120"/>
              </a:rPr>
              <a:t>Fagkaffe, februar 2026 ☕️</a:t>
            </a:r>
            <a:endParaRPr lang="en-US" sz="2400" dirty="0"/>
          </a:p>
        </p:txBody>
      </p:sp>
      <p:sp>
        <p:nvSpPr>
          <p:cNvPr id="4" name="Text 2"/>
          <p:cNvSpPr/>
          <p:nvPr/>
        </p:nvSpPr>
        <p:spPr>
          <a:xfrm>
            <a:off x="457200" y="4114800"/>
            <a:ext cx="2743200" cy="365760"/>
          </a:xfrm>
          <a:prstGeom prst="rect">
            <a:avLst/>
          </a:prstGeom>
          <a:noFill/>
          <a:ln/>
        </p:spPr>
        <p:txBody>
          <a:bodyPr wrap="square" rtlCol="0" anchor="ctr"/>
          <a:lstStyle/>
          <a:p>
            <a:pPr indent="0" marL="0">
              <a:buNone/>
            </a:pPr>
            <a:r>
              <a:rPr lang="en-US" sz="1800" dirty="0">
                <a:solidFill>
                  <a:srgbClr val="FFD9A1"/>
                </a:solidFill>
                <a:latin typeface="Calibri" pitchFamily="34" charset="0"/>
                <a:ea typeface="Calibri" pitchFamily="34" charset="-122"/>
                <a:cs typeface="Calibri" pitchFamily="34" charset="-120"/>
              </a:rPr>
              <a:t>Haugesund</a:t>
            </a:r>
            <a:endParaRPr lang="en-US" sz="1800" dirty="0"/>
          </a:p>
        </p:txBody>
      </p:sp>
      <p:sp>
        <p:nvSpPr>
          <p:cNvPr id="5" name="Text 3"/>
          <p:cNvSpPr/>
          <p:nvPr/>
        </p:nvSpPr>
        <p:spPr>
          <a:xfrm>
            <a:off x="6858000" y="4114800"/>
            <a:ext cx="1828800" cy="548640"/>
          </a:xfrm>
          <a:prstGeom prst="rect">
            <a:avLst/>
          </a:prstGeom>
          <a:noFill/>
          <a:ln/>
        </p:spPr>
        <p:txBody>
          <a:bodyPr wrap="square" rtlCol="0" anchor="ctr"/>
          <a:lstStyle/>
          <a:p>
            <a:pPr algn="r" indent="0" marL="0">
              <a:buNone/>
            </a:pPr>
            <a:r>
              <a:rPr lang="en-US" sz="3600" b="1" dirty="0">
                <a:solidFill>
                  <a:srgbClr val="FF303B"/>
                </a:solidFill>
                <a:latin typeface="Calibri" pitchFamily="34" charset="0"/>
                <a:ea typeface="Calibri" pitchFamily="34" charset="-122"/>
                <a:cs typeface="Calibri" pitchFamily="34" charset="-120"/>
              </a:rPr>
              <a:t>MILES</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0E5"/>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AI som kode-verktøy: En kort tidslinje</a:t>
            </a:r>
            <a:endParaRPr lang="en-US" sz="3600" dirty="0"/>
          </a:p>
        </p:txBody>
      </p:sp>
      <p:sp>
        <p:nvSpPr>
          <p:cNvPr id="3" name="Shape 1"/>
          <p:cNvSpPr/>
          <p:nvPr/>
        </p:nvSpPr>
        <p:spPr>
          <a:xfrm>
            <a:off x="1371600" y="1600200"/>
            <a:ext cx="45720" cy="457200"/>
          </a:xfrm>
          <a:prstGeom prst="rect">
            <a:avLst/>
          </a:prstGeom>
          <a:solidFill>
            <a:srgbClr val="FF303B"/>
          </a:solidFill>
          <a:ln/>
        </p:spPr>
      </p:sp>
      <p:sp>
        <p:nvSpPr>
          <p:cNvPr id="4" name="Text 2"/>
          <p:cNvSpPr/>
          <p:nvPr/>
        </p:nvSpPr>
        <p:spPr>
          <a:xfrm>
            <a:off x="1828800" y="1371600"/>
            <a:ext cx="1828800" cy="365760"/>
          </a:xfrm>
          <a:prstGeom prst="rect">
            <a:avLst/>
          </a:prstGeom>
          <a:noFill/>
          <a:ln/>
        </p:spPr>
        <p:txBody>
          <a:bodyPr wrap="square" rtlCol="0" anchor="ctr"/>
          <a:lstStyle/>
          <a:p>
            <a:pPr indent="0" marL="0">
              <a:buNone/>
            </a:pPr>
            <a:r>
              <a:rPr lang="en-US" sz="1800" b="1" dirty="0">
                <a:solidFill>
                  <a:srgbClr val="450D20"/>
                </a:solidFill>
                <a:latin typeface="Calibri" pitchFamily="34" charset="0"/>
                <a:ea typeface="Calibri" pitchFamily="34" charset="-122"/>
                <a:cs typeface="Calibri" pitchFamily="34" charset="-120"/>
              </a:rPr>
              <a:t>Nov 2022</a:t>
            </a:r>
            <a:endParaRPr lang="en-US" sz="1800" dirty="0"/>
          </a:p>
        </p:txBody>
      </p:sp>
      <p:sp>
        <p:nvSpPr>
          <p:cNvPr id="5" name="Text 3"/>
          <p:cNvSpPr/>
          <p:nvPr/>
        </p:nvSpPr>
        <p:spPr>
          <a:xfrm>
            <a:off x="4114800" y="1371600"/>
            <a:ext cx="4114800" cy="365760"/>
          </a:xfrm>
          <a:prstGeom prst="rect">
            <a:avLst/>
          </a:prstGeom>
          <a:noFill/>
          <a:ln/>
        </p:spPr>
        <p:txBody>
          <a:bodyPr wrap="square" rtlCol="0" anchor="ctr"/>
          <a:lstStyle/>
          <a:p>
            <a:pPr indent="0" marL="0">
              <a:buNone/>
            </a:pPr>
            <a:r>
              <a:rPr lang="en-US" sz="1600" dirty="0">
                <a:solidFill>
                  <a:srgbClr val="450D20"/>
                </a:solidFill>
                <a:latin typeface="Calibri" pitchFamily="34" charset="0"/>
                <a:ea typeface="Calibri" pitchFamily="34" charset="-122"/>
                <a:cs typeface="Calibri" pitchFamily="34" charset="-120"/>
              </a:rPr>
              <a:t>ChatGPT lanseres</a:t>
            </a:r>
            <a:endParaRPr lang="en-US" sz="1600" dirty="0"/>
          </a:p>
        </p:txBody>
      </p:sp>
      <p:sp>
        <p:nvSpPr>
          <p:cNvPr id="6" name="Shape 4"/>
          <p:cNvSpPr/>
          <p:nvPr/>
        </p:nvSpPr>
        <p:spPr>
          <a:xfrm>
            <a:off x="1371600" y="2240280"/>
            <a:ext cx="45720" cy="457200"/>
          </a:xfrm>
          <a:prstGeom prst="rect">
            <a:avLst/>
          </a:prstGeom>
          <a:solidFill>
            <a:srgbClr val="FF303B"/>
          </a:solidFill>
          <a:ln/>
        </p:spPr>
      </p:sp>
      <p:sp>
        <p:nvSpPr>
          <p:cNvPr id="7" name="Text 5"/>
          <p:cNvSpPr/>
          <p:nvPr/>
        </p:nvSpPr>
        <p:spPr>
          <a:xfrm>
            <a:off x="1828800" y="2011680"/>
            <a:ext cx="1828800" cy="365760"/>
          </a:xfrm>
          <a:prstGeom prst="rect">
            <a:avLst/>
          </a:prstGeom>
          <a:noFill/>
          <a:ln/>
        </p:spPr>
        <p:txBody>
          <a:bodyPr wrap="square" rtlCol="0" anchor="ctr"/>
          <a:lstStyle/>
          <a:p>
            <a:pPr indent="0" marL="0">
              <a:buNone/>
            </a:pPr>
            <a:r>
              <a:rPr lang="en-US" sz="1800" b="1" dirty="0">
                <a:solidFill>
                  <a:srgbClr val="450D20"/>
                </a:solidFill>
                <a:latin typeface="Calibri" pitchFamily="34" charset="0"/>
                <a:ea typeface="Calibri" pitchFamily="34" charset="-122"/>
                <a:cs typeface="Calibri" pitchFamily="34" charset="-120"/>
              </a:rPr>
              <a:t>2023</a:t>
            </a:r>
            <a:endParaRPr lang="en-US" sz="1800" dirty="0"/>
          </a:p>
        </p:txBody>
      </p:sp>
      <p:sp>
        <p:nvSpPr>
          <p:cNvPr id="8" name="Text 6"/>
          <p:cNvSpPr/>
          <p:nvPr/>
        </p:nvSpPr>
        <p:spPr>
          <a:xfrm>
            <a:off x="4114800" y="2011680"/>
            <a:ext cx="4114800" cy="365760"/>
          </a:xfrm>
          <a:prstGeom prst="rect">
            <a:avLst/>
          </a:prstGeom>
          <a:noFill/>
          <a:ln/>
        </p:spPr>
        <p:txBody>
          <a:bodyPr wrap="square" rtlCol="0" anchor="ctr"/>
          <a:lstStyle/>
          <a:p>
            <a:pPr indent="0" marL="0">
              <a:buNone/>
            </a:pPr>
            <a:r>
              <a:rPr lang="en-US" sz="1600" dirty="0">
                <a:solidFill>
                  <a:srgbClr val="450D20"/>
                </a:solidFill>
                <a:latin typeface="Calibri" pitchFamily="34" charset="0"/>
                <a:ea typeface="Calibri" pitchFamily="34" charset="-122"/>
                <a:cs typeface="Calibri" pitchFamily="34" charset="-120"/>
              </a:rPr>
              <a:t>GitHub Copilot blir mainstream</a:t>
            </a:r>
            <a:endParaRPr lang="en-US" sz="1600" dirty="0"/>
          </a:p>
        </p:txBody>
      </p:sp>
      <p:sp>
        <p:nvSpPr>
          <p:cNvPr id="9" name="Shape 7"/>
          <p:cNvSpPr/>
          <p:nvPr/>
        </p:nvSpPr>
        <p:spPr>
          <a:xfrm>
            <a:off x="1371600" y="2880360"/>
            <a:ext cx="45720" cy="457200"/>
          </a:xfrm>
          <a:prstGeom prst="rect">
            <a:avLst/>
          </a:prstGeom>
          <a:solidFill>
            <a:srgbClr val="FF303B"/>
          </a:solidFill>
          <a:ln/>
        </p:spPr>
      </p:sp>
      <p:sp>
        <p:nvSpPr>
          <p:cNvPr id="10" name="Text 8"/>
          <p:cNvSpPr/>
          <p:nvPr/>
        </p:nvSpPr>
        <p:spPr>
          <a:xfrm>
            <a:off x="1828800" y="2651760"/>
            <a:ext cx="1828800" cy="365760"/>
          </a:xfrm>
          <a:prstGeom prst="rect">
            <a:avLst/>
          </a:prstGeom>
          <a:noFill/>
          <a:ln/>
        </p:spPr>
        <p:txBody>
          <a:bodyPr wrap="square" rtlCol="0" anchor="ctr"/>
          <a:lstStyle/>
          <a:p>
            <a:pPr indent="0" marL="0">
              <a:buNone/>
            </a:pPr>
            <a:r>
              <a:rPr lang="en-US" sz="1800" b="1" dirty="0">
                <a:solidFill>
                  <a:srgbClr val="450D20"/>
                </a:solidFill>
                <a:latin typeface="Calibri" pitchFamily="34" charset="0"/>
                <a:ea typeface="Calibri" pitchFamily="34" charset="-122"/>
                <a:cs typeface="Calibri" pitchFamily="34" charset="-120"/>
              </a:rPr>
              <a:t>2024</a:t>
            </a:r>
            <a:endParaRPr lang="en-US" sz="1800" dirty="0"/>
          </a:p>
        </p:txBody>
      </p:sp>
      <p:sp>
        <p:nvSpPr>
          <p:cNvPr id="11" name="Text 9"/>
          <p:cNvSpPr/>
          <p:nvPr/>
        </p:nvSpPr>
        <p:spPr>
          <a:xfrm>
            <a:off x="4114800" y="2651760"/>
            <a:ext cx="4114800" cy="365760"/>
          </a:xfrm>
          <a:prstGeom prst="rect">
            <a:avLst/>
          </a:prstGeom>
          <a:noFill/>
          <a:ln/>
        </p:spPr>
        <p:txBody>
          <a:bodyPr wrap="square" rtlCol="0" anchor="ctr"/>
          <a:lstStyle/>
          <a:p>
            <a:pPr indent="0" marL="0">
              <a:buNone/>
            </a:pPr>
            <a:r>
              <a:rPr lang="en-US" sz="1600" dirty="0">
                <a:solidFill>
                  <a:srgbClr val="450D20"/>
                </a:solidFill>
                <a:latin typeface="Calibri" pitchFamily="34" charset="0"/>
                <a:ea typeface="Calibri" pitchFamily="34" charset="-122"/>
                <a:cs typeface="Calibri" pitchFamily="34" charset="-120"/>
              </a:rPr>
              <a:t>Cursor.ai vinner popularitet</a:t>
            </a:r>
            <a:endParaRPr lang="en-US" sz="1600" dirty="0"/>
          </a:p>
        </p:txBody>
      </p:sp>
      <p:sp>
        <p:nvSpPr>
          <p:cNvPr id="12" name="Shape 10"/>
          <p:cNvSpPr/>
          <p:nvPr/>
        </p:nvSpPr>
        <p:spPr>
          <a:xfrm>
            <a:off x="1371600" y="3520440"/>
            <a:ext cx="45720" cy="457200"/>
          </a:xfrm>
          <a:prstGeom prst="rect">
            <a:avLst/>
          </a:prstGeom>
          <a:solidFill>
            <a:srgbClr val="FF303B"/>
          </a:solidFill>
          <a:ln/>
        </p:spPr>
      </p:sp>
      <p:sp>
        <p:nvSpPr>
          <p:cNvPr id="13" name="Text 11"/>
          <p:cNvSpPr/>
          <p:nvPr/>
        </p:nvSpPr>
        <p:spPr>
          <a:xfrm>
            <a:off x="1828800" y="3291840"/>
            <a:ext cx="1828800" cy="365760"/>
          </a:xfrm>
          <a:prstGeom prst="rect">
            <a:avLst/>
          </a:prstGeom>
          <a:noFill/>
          <a:ln/>
        </p:spPr>
        <p:txBody>
          <a:bodyPr wrap="square" rtlCol="0" anchor="ctr"/>
          <a:lstStyle/>
          <a:p>
            <a:pPr indent="0" marL="0">
              <a:buNone/>
            </a:pPr>
            <a:r>
              <a:rPr lang="en-US" sz="1800" b="1" dirty="0">
                <a:solidFill>
                  <a:srgbClr val="450D20"/>
                </a:solidFill>
                <a:latin typeface="Calibri" pitchFamily="34" charset="0"/>
                <a:ea typeface="Calibri" pitchFamily="34" charset="-122"/>
                <a:cs typeface="Calibri" pitchFamily="34" charset="-120"/>
              </a:rPr>
              <a:t>2025</a:t>
            </a:r>
            <a:endParaRPr lang="en-US" sz="1800" dirty="0"/>
          </a:p>
        </p:txBody>
      </p:sp>
      <p:sp>
        <p:nvSpPr>
          <p:cNvPr id="14" name="Text 12"/>
          <p:cNvSpPr/>
          <p:nvPr/>
        </p:nvSpPr>
        <p:spPr>
          <a:xfrm>
            <a:off x="4114800" y="3291840"/>
            <a:ext cx="4114800" cy="365760"/>
          </a:xfrm>
          <a:prstGeom prst="rect">
            <a:avLst/>
          </a:prstGeom>
          <a:noFill/>
          <a:ln/>
        </p:spPr>
        <p:txBody>
          <a:bodyPr wrap="square" rtlCol="0" anchor="ctr"/>
          <a:lstStyle/>
          <a:p>
            <a:pPr indent="0" marL="0">
              <a:buNone/>
            </a:pPr>
            <a:r>
              <a:rPr lang="en-US" sz="1600" dirty="0">
                <a:solidFill>
                  <a:srgbClr val="450D20"/>
                </a:solidFill>
                <a:latin typeface="Calibri" pitchFamily="34" charset="0"/>
                <a:ea typeface="Calibri" pitchFamily="34" charset="-122"/>
                <a:cs typeface="Calibri" pitchFamily="34" charset="-120"/>
              </a:rPr>
              <a:t>Claude Code lanseres</a:t>
            </a:r>
            <a:endParaRPr lang="en-US" sz="1600" dirty="0"/>
          </a:p>
        </p:txBody>
      </p:sp>
      <p:sp>
        <p:nvSpPr>
          <p:cNvPr id="15" name="Text 13"/>
          <p:cNvSpPr/>
          <p:nvPr/>
        </p:nvSpPr>
        <p:spPr>
          <a:xfrm>
            <a:off x="1828800" y="3931920"/>
            <a:ext cx="1828800" cy="365760"/>
          </a:xfrm>
          <a:prstGeom prst="rect">
            <a:avLst/>
          </a:prstGeom>
          <a:noFill/>
          <a:ln/>
        </p:spPr>
        <p:txBody>
          <a:bodyPr wrap="square" rtlCol="0" anchor="ctr"/>
          <a:lstStyle/>
          <a:p>
            <a:pPr indent="0" marL="0">
              <a:buNone/>
            </a:pPr>
            <a:r>
              <a:rPr lang="en-US" sz="1800" b="1" dirty="0">
                <a:solidFill>
                  <a:srgbClr val="450D20"/>
                </a:solidFill>
                <a:latin typeface="Calibri" pitchFamily="34" charset="0"/>
                <a:ea typeface="Calibri" pitchFamily="34" charset="-122"/>
                <a:cs typeface="Calibri" pitchFamily="34" charset="-120"/>
              </a:rPr>
              <a:t>Feb 2026</a:t>
            </a:r>
            <a:endParaRPr lang="en-US" sz="1800" dirty="0"/>
          </a:p>
        </p:txBody>
      </p:sp>
      <p:sp>
        <p:nvSpPr>
          <p:cNvPr id="16" name="Text 14"/>
          <p:cNvSpPr/>
          <p:nvPr/>
        </p:nvSpPr>
        <p:spPr>
          <a:xfrm>
            <a:off x="4114800" y="3931920"/>
            <a:ext cx="4114800" cy="365760"/>
          </a:xfrm>
          <a:prstGeom prst="rect">
            <a:avLst/>
          </a:prstGeom>
          <a:noFill/>
          <a:ln/>
        </p:spPr>
        <p:txBody>
          <a:bodyPr wrap="square" rtlCol="0" anchor="ctr"/>
          <a:lstStyle/>
          <a:p>
            <a:pPr indent="0" marL="0">
              <a:buNone/>
            </a:pPr>
            <a:r>
              <a:rPr lang="en-US" sz="1600" dirty="0">
                <a:solidFill>
                  <a:srgbClr val="450D20"/>
                </a:solidFill>
                <a:latin typeface="Calibri" pitchFamily="34" charset="0"/>
                <a:ea typeface="Calibri" pitchFamily="34" charset="-122"/>
                <a:cs typeface="Calibri" pitchFamily="34" charset="-120"/>
              </a:rPr>
              <a:t>I dag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0E5"/>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LLM og kode, i to tweets</a:t>
            </a:r>
            <a:endParaRPr lang="en-US" sz="3600" dirty="0"/>
          </a:p>
        </p:txBody>
      </p:sp>
      <p:sp>
        <p:nvSpPr>
          <p:cNvPr id="3" name="Text 1"/>
          <p:cNvSpPr/>
          <p:nvPr/>
        </p:nvSpPr>
        <p:spPr>
          <a:xfrm>
            <a:off x="457200" y="1097280"/>
            <a:ext cx="8229600" cy="365760"/>
          </a:xfrm>
          <a:prstGeom prst="rect">
            <a:avLst/>
          </a:prstGeom>
          <a:noFill/>
          <a:ln/>
        </p:spPr>
        <p:txBody>
          <a:bodyPr wrap="square" rtlCol="0" anchor="ctr"/>
          <a:lstStyle/>
          <a:p>
            <a:pPr indent="0" marL="0">
              <a:buNone/>
            </a:pPr>
            <a:r>
              <a:rPr lang="en-US" sz="2000" i="1" dirty="0">
                <a:solidFill>
                  <a:srgbClr val="B72318"/>
                </a:solidFill>
                <a:latin typeface="Calibri" pitchFamily="34" charset="0"/>
                <a:ea typeface="Calibri" pitchFamily="34" charset="-122"/>
                <a:cs typeface="Calibri" pitchFamily="34" charset="-120"/>
              </a:rPr>
              <a:t>(med ett års mellomrom)</a:t>
            </a:r>
            <a:endParaRPr lang="en-US" sz="2000" dirty="0"/>
          </a:p>
        </p:txBody>
      </p:sp>
      <p:sp>
        <p:nvSpPr>
          <p:cNvPr id="4" name="Text 2"/>
          <p:cNvSpPr/>
          <p:nvPr/>
        </p:nvSpPr>
        <p:spPr>
          <a:xfrm>
            <a:off x="457200" y="1828800"/>
            <a:ext cx="8229600" cy="2286000"/>
          </a:xfrm>
          <a:prstGeom prst="rect">
            <a:avLst/>
          </a:prstGeom>
          <a:noFill/>
          <a:ln/>
        </p:spPr>
        <p:txBody>
          <a:bodyPr wrap="square" rtlCol="0" anchor="t"/>
          <a:lstStyle/>
          <a:p>
            <a:pPr indent="0" marL="0">
              <a:buNone/>
            </a:pPr>
            <a:r>
              <a:rPr lang="en-US" sz="1800" b="1" dirty="0">
                <a:solidFill>
                  <a:srgbClr val="450D20"/>
                </a:solidFill>
                <a:latin typeface="Calibri" pitchFamily="34" charset="0"/>
                <a:ea typeface="Calibri" pitchFamily="34" charset="-122"/>
                <a:cs typeface="Calibri" pitchFamily="34" charset="-120"/>
              </a:rPr>
              <a:t>Andrej Karpathy:
</a:t>
            </a:r>
            <a:pPr indent="0" marL="0">
              <a:buNone/>
            </a:pPr>
            <a:r>
              <a:rPr lang="en-US" sz="1400" b="1" dirty="0">
                <a:solidFill>
                  <a:srgbClr val="450D20"/>
                </a:solidFill>
                <a:latin typeface="Calibri" pitchFamily="34" charset="0"/>
                <a:ea typeface="Calibri" pitchFamily="34" charset="-122"/>
                <a:cs typeface="Calibri" pitchFamily="34" charset="-120"/>
              </a:rPr>
              <a:t>Tweet 1 (2024): </a:t>
            </a:r>
            <a:pPr indent="0" marL="0">
              <a:buNone/>
            </a:pPr>
            <a:r>
              <a:rPr lang="en-US" sz="1200" dirty="0">
                <a:solidFill>
                  <a:srgbClr val="004047"/>
                </a:solidFill>
                <a:latin typeface="Calibri" pitchFamily="34" charset="0"/>
                <a:ea typeface="Calibri" pitchFamily="34" charset="-122"/>
                <a:cs typeface="Calibri" pitchFamily="34" charset="-120"/>
              </a:rPr>
              <a:t>x.com/karpathy/status/2015883857489522876
</a:t>
            </a:r>
            <a:pPr indent="0" marL="0">
              <a:buNone/>
            </a:pPr>
            <a:r>
              <a:rPr lang="en-US" sz="1400" b="1" dirty="0">
                <a:solidFill>
                  <a:srgbClr val="450D20"/>
                </a:solidFill>
                <a:latin typeface="Calibri" pitchFamily="34" charset="0"/>
                <a:ea typeface="Calibri" pitchFamily="34" charset="-122"/>
                <a:cs typeface="Calibri" pitchFamily="34" charset="-120"/>
              </a:rPr>
              <a:t>Tweet 2 (2025): </a:t>
            </a:r>
            <a:pPr indent="0" marL="0">
              <a:buNone/>
            </a:pPr>
            <a:r>
              <a:rPr lang="en-US" sz="1200" dirty="0">
                <a:solidFill>
                  <a:srgbClr val="004047"/>
                </a:solidFill>
                <a:latin typeface="Calibri" pitchFamily="34" charset="0"/>
                <a:ea typeface="Calibri" pitchFamily="34" charset="-122"/>
                <a:cs typeface="Calibri" pitchFamily="34" charset="-120"/>
              </a:rPr>
              <a:t>x.com/karpathy/status/2019137879310836075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4047"/>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FBF0E5"/>
                </a:solidFill>
                <a:latin typeface="Calibri" pitchFamily="34" charset="0"/>
                <a:ea typeface="Calibri" pitchFamily="34" charset="-122"/>
                <a:cs typeface="Calibri" pitchFamily="34" charset="-120"/>
              </a:rPr>
              <a:t>Jevons Paradox</a:t>
            </a:r>
            <a:endParaRPr lang="en-US" sz="3600" dirty="0"/>
          </a:p>
        </p:txBody>
      </p:sp>
      <p:sp>
        <p:nvSpPr>
          <p:cNvPr id="3" name="Text 1"/>
          <p:cNvSpPr/>
          <p:nvPr/>
        </p:nvSpPr>
        <p:spPr>
          <a:xfrm>
            <a:off x="914400" y="1645920"/>
            <a:ext cx="7315200" cy="1828800"/>
          </a:xfrm>
          <a:prstGeom prst="rect">
            <a:avLst/>
          </a:prstGeom>
          <a:noFill/>
          <a:ln/>
        </p:spPr>
        <p:txBody>
          <a:bodyPr wrap="square" rtlCol="0" anchor="ctr"/>
          <a:lstStyle/>
          <a:p>
            <a:pPr algn="ctr" indent="0" marL="0">
              <a:buNone/>
            </a:pPr>
            <a:r>
              <a:rPr lang="en-US" sz="2000" i="1" dirty="0">
                <a:solidFill>
                  <a:srgbClr val="FFD9A1"/>
                </a:solidFill>
                <a:latin typeface="Calibri" pitchFamily="34" charset="0"/>
                <a:ea typeface="Calibri" pitchFamily="34" charset="-122"/>
                <a:cs typeface="Calibri" pitchFamily="34" charset="-120"/>
              </a:rPr>
              <a:t>"It is a confusion of ideas to suppose that the economical use of fuel is equivalent to diminished consumption. The very contrary is the truth."
</a:t>
            </a:r>
            <a:pPr algn="ctr" indent="0" marL="0">
              <a:buNone/>
            </a:pPr>
            <a:r>
              <a:rPr lang="en-US" sz="1600" b="1" dirty="0">
                <a:solidFill>
                  <a:srgbClr val="FFD9A1"/>
                </a:solidFill>
                <a:latin typeface="Calibri" pitchFamily="34" charset="0"/>
                <a:ea typeface="Calibri" pitchFamily="34" charset="-122"/>
                <a:cs typeface="Calibri" pitchFamily="34" charset="-120"/>
              </a:rPr>
              <a:t>— William Stanley Jevons (1865)</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0E5"/>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"Art &amp; Fear": En historie om keramikk</a:t>
            </a:r>
            <a:endParaRPr lang="en-US" sz="3600" dirty="0"/>
          </a:p>
        </p:txBody>
      </p:sp>
      <p:sp>
        <p:nvSpPr>
          <p:cNvPr id="3" name="Text 1"/>
          <p:cNvSpPr/>
          <p:nvPr/>
        </p:nvSpPr>
        <p:spPr>
          <a:xfrm>
            <a:off x="457200" y="1371600"/>
            <a:ext cx="8229600" cy="2743200"/>
          </a:xfrm>
          <a:prstGeom prst="rect">
            <a:avLst/>
          </a:prstGeom>
          <a:noFill/>
          <a:ln/>
        </p:spPr>
        <p:txBody>
          <a:bodyPr wrap="square" rtlCol="0" anchor="t"/>
          <a:lstStyle/>
          <a:p>
            <a:pPr indent="0" marL="0">
              <a:buNone/>
            </a:pPr>
            <a:r>
              <a:rPr lang="en-US" sz="1800" dirty="0">
                <a:solidFill>
                  <a:srgbClr val="450D20"/>
                </a:solidFill>
                <a:latin typeface="Calibri" pitchFamily="34" charset="0"/>
                <a:ea typeface="Calibri" pitchFamily="34" charset="-122"/>
                <a:cs typeface="Calibri" pitchFamily="34" charset="-120"/>
              </a:rPr>
              <a:t>En keramikklærer delte klassen i to:
</a:t>
            </a:r>
            <a:pPr indent="0" marL="0">
              <a:buNone/>
            </a:pPr>
            <a:r>
              <a:rPr lang="en-US" sz="1600" b="1" dirty="0">
                <a:solidFill>
                  <a:srgbClr val="450D20"/>
                </a:solidFill>
                <a:latin typeface="Calibri" pitchFamily="34" charset="0"/>
                <a:ea typeface="Calibri" pitchFamily="34" charset="-122"/>
                <a:cs typeface="Calibri" pitchFamily="34" charset="-120"/>
              </a:rPr>
              <a:t>• Gruppe A (kvantitet): </a:t>
            </a:r>
            <a:pPr indent="0" marL="0">
              <a:buNone/>
            </a:pPr>
            <a:r>
              <a:rPr lang="en-US" sz="1600" dirty="0">
                <a:solidFill>
                  <a:srgbClr val="450D20"/>
                </a:solidFill>
                <a:latin typeface="Calibri" pitchFamily="34" charset="0"/>
                <a:ea typeface="Calibri" pitchFamily="34" charset="-122"/>
                <a:cs typeface="Calibri" pitchFamily="34" charset="-120"/>
              </a:rPr>
              <a:t>Vurdering basert på vekt
</a:t>
            </a:r>
            <a:pPr indent="0" marL="0">
              <a:buNone/>
            </a:pPr>
            <a:r>
              <a:rPr lang="en-US" sz="1600" b="1" dirty="0">
                <a:solidFill>
                  <a:srgbClr val="450D20"/>
                </a:solidFill>
                <a:latin typeface="Calibri" pitchFamily="34" charset="0"/>
                <a:ea typeface="Calibri" pitchFamily="34" charset="-122"/>
                <a:cs typeface="Calibri" pitchFamily="34" charset="-120"/>
              </a:rPr>
              <a:t>• Gruppe B (kvalitet): </a:t>
            </a:r>
            <a:pPr indent="0" marL="0">
              <a:buNone/>
            </a:pPr>
            <a:r>
              <a:rPr lang="en-US" sz="1600" dirty="0">
                <a:solidFill>
                  <a:srgbClr val="450D20"/>
                </a:solidFill>
                <a:latin typeface="Calibri" pitchFamily="34" charset="0"/>
                <a:ea typeface="Calibri" pitchFamily="34" charset="-122"/>
                <a:cs typeface="Calibri" pitchFamily="34" charset="-120"/>
              </a:rPr>
              <a:t>Én perfekt vase
</a:t>
            </a:r>
            <a:pPr indent="0" marL="0">
              <a:buNone/>
            </a:pPr>
            <a:r>
              <a:rPr lang="en-US" sz="1800" b="1" dirty="0">
                <a:solidFill>
                  <a:srgbClr val="FF303B"/>
                </a:solidFill>
                <a:latin typeface="Calibri" pitchFamily="34" charset="0"/>
                <a:ea typeface="Calibri" pitchFamily="34" charset="-122"/>
                <a:cs typeface="Calibri" pitchFamily="34" charset="-120"/>
              </a:rPr>
              <a:t>Resultat: </a:t>
            </a:r>
            <a:pPr indent="0" marL="0">
              <a:buNone/>
            </a:pPr>
            <a:r>
              <a:rPr lang="en-US" sz="1600" dirty="0">
                <a:solidFill>
                  <a:srgbClr val="450D20"/>
                </a:solidFill>
                <a:latin typeface="Calibri" pitchFamily="34" charset="0"/>
                <a:ea typeface="Calibri" pitchFamily="34" charset="-122"/>
                <a:cs typeface="Calibri" pitchFamily="34" charset="-120"/>
              </a:rPr>
              <a:t>Kvantitetsgruppen produserte høyest kvalitet!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Stadig mer sjekkes inn av AI</a:t>
            </a:r>
            <a:endParaRPr lang="en-US" sz="3600" dirty="0"/>
          </a:p>
        </p:txBody>
      </p:sp>
      <p:sp>
        <p:nvSpPr>
          <p:cNvPr id="3" name="Text 1"/>
          <p:cNvSpPr/>
          <p:nvPr/>
        </p:nvSpPr>
        <p:spPr>
          <a:xfrm>
            <a:off x="457200" y="1645920"/>
            <a:ext cx="8229600" cy="2286000"/>
          </a:xfrm>
          <a:prstGeom prst="rect">
            <a:avLst/>
          </a:prstGeom>
          <a:noFill/>
          <a:ln/>
        </p:spPr>
        <p:txBody>
          <a:bodyPr wrap="square" rtlCol="0" anchor="t"/>
          <a:lstStyle/>
          <a:p>
            <a:pPr indent="0" marL="0">
              <a:buNone/>
            </a:pPr>
            <a:r>
              <a:rPr lang="en-US" sz="1800" dirty="0">
                <a:solidFill>
                  <a:srgbClr val="450D20"/>
                </a:solidFill>
                <a:latin typeface="Calibri" pitchFamily="34" charset="0"/>
                <a:ea typeface="Calibri" pitchFamily="34" charset="-122"/>
                <a:cs typeface="Calibri" pitchFamily="34" charset="-120"/>
              </a:rPr>
              <a:t>Dataene viser en klar trend:
</a:t>
            </a:r>
            <a:pPr indent="0" marL="0">
              <a:buNone/>
            </a:pPr>
            <a:r>
              <a:rPr lang="en-US" sz="1600" dirty="0">
                <a:solidFill>
                  <a:srgbClr val="450D20"/>
                </a:solidFill>
                <a:latin typeface="Calibri" pitchFamily="34" charset="0"/>
                <a:ea typeface="Calibri" pitchFamily="34" charset="-122"/>
                <a:cs typeface="Calibri" pitchFamily="34" charset="-120"/>
              </a:rPr>
              <a:t>AI-generert kode utgjør en økende andel av commits
</a:t>
            </a:r>
            <a:pPr indent="0" marL="0">
              <a:buNone/>
            </a:pPr>
            <a:r>
              <a:rPr lang="en-US" sz="1400" b="1" dirty="0">
                <a:solidFill>
                  <a:srgbClr val="450D20"/>
                </a:solidFill>
                <a:latin typeface="Calibri" pitchFamily="34" charset="0"/>
                <a:ea typeface="Calibri" pitchFamily="34" charset="-122"/>
                <a:cs typeface="Calibri" pitchFamily="34" charset="-120"/>
              </a:rPr>
              <a:t>Kilde: </a:t>
            </a:r>
            <a:pPr indent="0" marL="0">
              <a:buNone/>
            </a:pPr>
            <a:r>
              <a:rPr lang="en-US" sz="1200" dirty="0">
                <a:solidFill>
                  <a:srgbClr val="004047"/>
                </a:solidFill>
                <a:latin typeface="Calibri" pitchFamily="34" charset="0"/>
                <a:ea typeface="Calibri" pitchFamily="34" charset="-122"/>
                <a:cs typeface="Calibri" pitchFamily="34" charset="-120"/>
              </a:rPr>
              <a:t>x.com/dylan522p/status/2019490550911766763</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D9A1"/>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Spesialist vs Generalist</a:t>
            </a:r>
            <a:endParaRPr lang="en-US" sz="3600" dirty="0"/>
          </a:p>
        </p:txBody>
      </p:sp>
      <p:sp>
        <p:nvSpPr>
          <p:cNvPr id="3" name="Text 1"/>
          <p:cNvSpPr/>
          <p:nvPr/>
        </p:nvSpPr>
        <p:spPr>
          <a:xfrm>
            <a:off x="457200" y="1371600"/>
            <a:ext cx="8229600" cy="2743200"/>
          </a:xfrm>
          <a:prstGeom prst="rect">
            <a:avLst/>
          </a:prstGeom>
          <a:noFill/>
          <a:ln/>
        </p:spPr>
        <p:txBody>
          <a:bodyPr wrap="square" rtlCol="0" anchor="t"/>
          <a:lstStyle/>
          <a:p>
            <a:pPr indent="0" marL="0">
              <a:buNone/>
            </a:pPr>
            <a:r>
              <a:rPr lang="en-US" sz="1800" b="1" dirty="0">
                <a:solidFill>
                  <a:srgbClr val="450D20"/>
                </a:solidFill>
                <a:latin typeface="Calibri" pitchFamily="34" charset="0"/>
                <a:ea typeface="Calibri" pitchFamily="34" charset="-122"/>
                <a:cs typeface="Calibri" pitchFamily="34" charset="-120"/>
              </a:rPr>
              <a:t>To sannheter som eksisterer samtidig:
</a:t>
            </a:r>
            <a:pPr indent="0" marL="0">
              <a:buNone/>
            </a:pPr>
            <a:r>
              <a:rPr lang="en-US" sz="1600" b="1" dirty="0">
                <a:solidFill>
                  <a:srgbClr val="FF303B"/>
                </a:solidFill>
                <a:latin typeface="Calibri" pitchFamily="34" charset="0"/>
                <a:ea typeface="Calibri" pitchFamily="34" charset="-122"/>
                <a:cs typeface="Calibri" pitchFamily="34" charset="-120"/>
              </a:rPr>
              <a:t>1. </a:t>
            </a:r>
            <a:pPr indent="0" marL="0">
              <a:buNone/>
            </a:pPr>
            <a:r>
              <a:rPr lang="en-US" sz="1600" dirty="0">
                <a:solidFill>
                  <a:srgbClr val="450D20"/>
                </a:solidFill>
                <a:latin typeface="Calibri" pitchFamily="34" charset="0"/>
                <a:ea typeface="Calibri" pitchFamily="34" charset="-122"/>
                <a:cs typeface="Calibri" pitchFamily="34" charset="-120"/>
              </a:rPr>
              <a:t>En enkeltutvikler kan bygge omfattende løsninger alene
</a:t>
            </a:r>
            <a:pPr indent="0" marL="0">
              <a:buNone/>
            </a:pPr>
            <a:r>
              <a:rPr lang="en-US" sz="1600" b="1" dirty="0">
                <a:solidFill>
                  <a:srgbClr val="FF303B"/>
                </a:solidFill>
                <a:latin typeface="Calibri" pitchFamily="34" charset="0"/>
                <a:ea typeface="Calibri" pitchFamily="34" charset="-122"/>
                <a:cs typeface="Calibri" pitchFamily="34" charset="-120"/>
              </a:rPr>
              <a:t>2. </a:t>
            </a:r>
            <a:pPr indent="0" marL="0">
              <a:buNone/>
            </a:pPr>
            <a:r>
              <a:rPr lang="en-US" sz="1600" dirty="0">
                <a:solidFill>
                  <a:srgbClr val="450D20"/>
                </a:solidFill>
                <a:latin typeface="Calibri" pitchFamily="34" charset="0"/>
                <a:ea typeface="Calibri" pitchFamily="34" charset="-122"/>
                <a:cs typeface="Calibri" pitchFamily="34" charset="-120"/>
              </a:rPr>
              <a:t>Kravene til spesialkompetanse (sikkerhet, design, UU, domene) øker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303B"/>
        </a:solidFill>
      </p:bgPr>
    </p:bg>
    <p:spTree>
      <p:nvGrpSpPr>
        <p:cNvPr id="1" name=""/>
        <p:cNvGrpSpPr/>
        <p:nvPr/>
      </p:nvGrpSpPr>
      <p:grpSpPr>
        <a:xfrm>
          <a:off x="0" y="0"/>
          <a:ext cx="0" cy="0"/>
          <a:chOff x="0" y="0"/>
          <a:chExt cx="0" cy="0"/>
        </a:xfrm>
      </p:grpSpPr>
      <p:sp>
        <p:nvSpPr>
          <p:cNvPr id="2" name="Text 0"/>
          <p:cNvSpPr/>
          <p:nvPr/>
        </p:nvSpPr>
        <p:spPr>
          <a:xfrm>
            <a:off x="457200" y="1828800"/>
            <a:ext cx="8229600" cy="9144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Hva skal vi overlate til maskinene?</a:t>
            </a:r>
            <a:endParaRPr lang="en-US" sz="4000" dirty="0"/>
          </a:p>
        </p:txBody>
      </p:sp>
      <p:sp>
        <p:nvSpPr>
          <p:cNvPr id="3" name="Text 1"/>
          <p:cNvSpPr/>
          <p:nvPr/>
        </p:nvSpPr>
        <p:spPr>
          <a:xfrm>
            <a:off x="914400" y="3200400"/>
            <a:ext cx="7315200" cy="731520"/>
          </a:xfrm>
          <a:prstGeom prst="rect">
            <a:avLst/>
          </a:prstGeom>
          <a:noFill/>
          <a:ln/>
        </p:spPr>
        <p:txBody>
          <a:bodyPr wrap="square" rtlCol="0" anchor="ctr"/>
          <a:lstStyle/>
          <a:p>
            <a:pPr algn="ctr" indent="0" marL="0">
              <a:buNone/>
            </a:pPr>
            <a:r>
              <a:rPr lang="en-US" sz="1800" i="1" dirty="0">
                <a:solidFill>
                  <a:srgbClr val="FFFFFF"/>
                </a:solidFill>
                <a:latin typeface="Calibri" pitchFamily="34" charset="0"/>
                <a:ea typeface="Calibri" pitchFamily="34" charset="-122"/>
                <a:cs typeface="Calibri" pitchFamily="34" charset="-120"/>
              </a:rPr>
              <a:t>AI er til veldig lite hjelp hvis det blir stående som et verktøy for å gjøre oss dummere.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0E5"/>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450D20"/>
                </a:solidFill>
                <a:latin typeface="Calibri" pitchFamily="34" charset="0"/>
                <a:ea typeface="Calibri" pitchFamily="34" charset="-122"/>
                <a:cs typeface="Calibri" pitchFamily="34" charset="-120"/>
              </a:rPr>
              <a:t>Motstemmer (som har helt rett)</a:t>
            </a:r>
            <a:endParaRPr lang="en-US" sz="3600" dirty="0"/>
          </a:p>
        </p:txBody>
      </p:sp>
      <p:sp>
        <p:nvSpPr>
          <p:cNvPr id="3" name="Text 1"/>
          <p:cNvSpPr/>
          <p:nvPr/>
        </p:nvSpPr>
        <p:spPr>
          <a:xfrm>
            <a:off x="457200" y="1097280"/>
            <a:ext cx="8229600" cy="457200"/>
          </a:xfrm>
          <a:prstGeom prst="rect">
            <a:avLst/>
          </a:prstGeom>
          <a:noFill/>
          <a:ln/>
        </p:spPr>
        <p:txBody>
          <a:bodyPr wrap="square" rtlCol="0" anchor="ctr"/>
          <a:lstStyle/>
          <a:p>
            <a:pPr indent="0" marL="0">
              <a:buNone/>
            </a:pPr>
            <a:r>
              <a:rPr lang="en-US" sz="2400" i="1" dirty="0">
                <a:solidFill>
                  <a:srgbClr val="B72318"/>
                </a:solidFill>
                <a:latin typeface="Calibri" pitchFamily="34" charset="0"/>
                <a:ea typeface="Calibri" pitchFamily="34" charset="-122"/>
                <a:cs typeface="Calibri" pitchFamily="34" charset="-120"/>
              </a:rPr>
              <a:t>Har Gorman noen gode poeng?</a:t>
            </a:r>
            <a:endParaRPr lang="en-US" sz="2400" dirty="0"/>
          </a:p>
        </p:txBody>
      </p:sp>
      <p:sp>
        <p:nvSpPr>
          <p:cNvPr id="4" name="Text 2"/>
          <p:cNvSpPr/>
          <p:nvPr/>
        </p:nvSpPr>
        <p:spPr>
          <a:xfrm>
            <a:off x="457200" y="2286000"/>
            <a:ext cx="8229600" cy="1371600"/>
          </a:xfrm>
          <a:prstGeom prst="rect">
            <a:avLst/>
          </a:prstGeom>
          <a:noFill/>
          <a:ln/>
        </p:spPr>
        <p:txBody>
          <a:bodyPr wrap="square" rtlCol="0" anchor="ctr"/>
          <a:lstStyle/>
          <a:p>
            <a:pPr indent="0" marL="0">
              <a:buNone/>
            </a:pPr>
            <a:r>
              <a:rPr lang="en-US" sz="1600" b="1" dirty="0">
                <a:solidFill>
                  <a:srgbClr val="450D20"/>
                </a:solidFill>
                <a:latin typeface="Calibri" pitchFamily="34" charset="0"/>
                <a:ea typeface="Calibri" pitchFamily="34" charset="-122"/>
                <a:cs typeface="Calibri" pitchFamily="34" charset="-120"/>
              </a:rPr>
              <a:t>LinkedIn-innlegg fra Gorman
</a:t>
            </a:r>
            <a:pPr indent="0" marL="0">
              <a:buNone/>
            </a:pPr>
            <a:r>
              <a:rPr lang="en-US" sz="1200" dirty="0">
                <a:solidFill>
                  <a:srgbClr val="004047"/>
                </a:solidFill>
                <a:latin typeface="Calibri" pitchFamily="34" charset="0"/>
                <a:ea typeface="Calibri" pitchFamily="34" charset="-122"/>
                <a:cs typeface="Calibri" pitchFamily="34" charset="-120"/>
              </a:rPr>
              <a:t>Se: linkedin.com/feed/update/urn:li:share:7419632629202960384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047"/>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3600" b="1" dirty="0">
                <a:solidFill>
                  <a:srgbClr val="FBF0E5"/>
                </a:solidFill>
                <a:latin typeface="Calibri" pitchFamily="34" charset="0"/>
                <a:ea typeface="Calibri" pitchFamily="34" charset="-122"/>
                <a:cs typeface="Calibri" pitchFamily="34" charset="-120"/>
              </a:rPr>
              <a:t>Angående miljøet</a:t>
            </a:r>
            <a:endParaRPr lang="en-US" sz="3600" dirty="0"/>
          </a:p>
        </p:txBody>
      </p:sp>
      <p:sp>
        <p:nvSpPr>
          <p:cNvPr id="3" name="Text 1"/>
          <p:cNvSpPr/>
          <p:nvPr/>
        </p:nvSpPr>
        <p:spPr>
          <a:xfrm>
            <a:off x="457200" y="1828800"/>
            <a:ext cx="8229600" cy="914400"/>
          </a:xfrm>
          <a:prstGeom prst="rect">
            <a:avLst/>
          </a:prstGeom>
          <a:noFill/>
          <a:ln/>
        </p:spPr>
        <p:txBody>
          <a:bodyPr wrap="square" rtlCol="0" anchor="ctr"/>
          <a:lstStyle/>
          <a:p>
            <a:pPr algn="ctr" indent="0" marL="0">
              <a:buNone/>
            </a:pPr>
            <a:r>
              <a:rPr lang="en-US" sz="2000" dirty="0">
                <a:solidFill>
                  <a:srgbClr val="FFD9A1"/>
                </a:solidFill>
                <a:latin typeface="Calibri" pitchFamily="34" charset="0"/>
                <a:ea typeface="Calibri" pitchFamily="34" charset="-122"/>
                <a:cs typeface="Calibri" pitchFamily="34" charset="-120"/>
              </a:rPr>
              <a:t>Det viktigste miljøaspektet av vår kode er ikke </a:t>
            </a:r>
            <a:pPr algn="ctr" indent="0" marL="0">
              <a:buNone/>
            </a:pPr>
            <a:r>
              <a:rPr lang="en-US" sz="2000" i="1" dirty="0">
                <a:solidFill>
                  <a:srgbClr val="FFD9A1"/>
                </a:solidFill>
                <a:latin typeface="Calibri" pitchFamily="34" charset="0"/>
                <a:ea typeface="Calibri" pitchFamily="34" charset="-122"/>
                <a:cs typeface="Calibri" pitchFamily="34" charset="-120"/>
              </a:rPr>
              <a:t>hvordan </a:t>
            </a:r>
            <a:pPr algn="ctr" indent="0" marL="0">
              <a:buNone/>
            </a:pPr>
            <a:r>
              <a:rPr lang="en-US" sz="2000" dirty="0">
                <a:solidFill>
                  <a:srgbClr val="FFD9A1"/>
                </a:solidFill>
                <a:latin typeface="Calibri" pitchFamily="34" charset="0"/>
                <a:ea typeface="Calibri" pitchFamily="34" charset="-122"/>
                <a:cs typeface="Calibri" pitchFamily="34" charset="-120"/>
              </a:rPr>
              <a:t>vi bygger det, men </a:t>
            </a:r>
            <a:pPr algn="ctr" indent="0" marL="0">
              <a:buNone/>
            </a:pPr>
            <a:r>
              <a:rPr lang="en-US" sz="2000" b="1" i="1" dirty="0">
                <a:solidFill>
                  <a:srgbClr val="FFD9A1"/>
                </a:solidFill>
                <a:latin typeface="Calibri" pitchFamily="34" charset="0"/>
                <a:ea typeface="Calibri" pitchFamily="34" charset="-122"/>
                <a:cs typeface="Calibri" pitchFamily="34" charset="-120"/>
              </a:rPr>
              <a:t>hva </a:t>
            </a:r>
            <a:pPr algn="ctr" indent="0" marL="0">
              <a:buNone/>
            </a:pPr>
            <a:r>
              <a:rPr lang="en-US" sz="2000" dirty="0">
                <a:solidFill>
                  <a:srgbClr val="FFD9A1"/>
                </a:solidFill>
                <a:latin typeface="Calibri" pitchFamily="34" charset="0"/>
                <a:ea typeface="Calibri" pitchFamily="34" charset="-122"/>
                <a:cs typeface="Calibri" pitchFamily="34" charset="-120"/>
              </a:rPr>
              <a:t>vi bygger.</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0E5"/>
        </a:solidFill>
      </p:bgPr>
    </p:bg>
    <p:spTree>
      <p:nvGrpSpPr>
        <p:cNvPr id="1" name=""/>
        <p:cNvGrpSpPr/>
        <p:nvPr/>
      </p:nvGrpSpPr>
      <p:grpSpPr>
        <a:xfrm>
          <a:off x="0" y="0"/>
          <a:ext cx="0" cy="0"/>
          <a:chOff x="0" y="0"/>
          <a:chExt cx="0" cy="0"/>
        </a:xfrm>
      </p:grpSpPr>
      <p:sp>
        <p:nvSpPr>
          <p:cNvPr id="2" name="Text 0"/>
          <p:cNvSpPr/>
          <p:nvPr/>
        </p:nvSpPr>
        <p:spPr>
          <a:xfrm>
            <a:off x="457200" y="457200"/>
            <a:ext cx="8229600" cy="822960"/>
          </a:xfrm>
          <a:prstGeom prst="rect">
            <a:avLst/>
          </a:prstGeom>
          <a:noFill/>
          <a:ln/>
        </p:spPr>
        <p:txBody>
          <a:bodyPr wrap="square" rtlCol="0" anchor="ctr"/>
          <a:lstStyle/>
          <a:p>
            <a:pPr indent="0" marL="0">
              <a:buNone/>
            </a:pPr>
            <a:r>
              <a:rPr lang="en-US" sz="3200" b="1" dirty="0">
                <a:solidFill>
                  <a:srgbClr val="450D20"/>
                </a:solidFill>
                <a:latin typeface="Calibri" pitchFamily="34" charset="0"/>
                <a:ea typeface="Calibri" pitchFamily="34" charset="-122"/>
                <a:cs typeface="Calibri" pitchFamily="34" charset="-120"/>
              </a:rPr>
              <a:t>Du må lære å bruke AI som verktøy for egen tenkning</a:t>
            </a:r>
            <a:endParaRPr lang="en-US" sz="3200" dirty="0"/>
          </a:p>
        </p:txBody>
      </p:sp>
      <p:sp>
        <p:nvSpPr>
          <p:cNvPr id="3" name="Text 1"/>
          <p:cNvSpPr/>
          <p:nvPr/>
        </p:nvSpPr>
        <p:spPr>
          <a:xfrm>
            <a:off x="457200" y="1828800"/>
            <a:ext cx="8229600" cy="2286000"/>
          </a:xfrm>
          <a:prstGeom prst="rect">
            <a:avLst/>
          </a:prstGeom>
          <a:noFill/>
          <a:ln/>
        </p:spPr>
        <p:txBody>
          <a:bodyPr wrap="square" rtlCol="0" anchor="t"/>
          <a:lstStyle/>
          <a:p>
            <a:pPr indent="0" marL="0">
              <a:buNone/>
            </a:pPr>
            <a:r>
              <a:rPr lang="en-US" sz="1800" i="1" dirty="0">
                <a:solidFill>
                  <a:srgbClr val="450D20"/>
                </a:solidFill>
                <a:latin typeface="Calibri" pitchFamily="34" charset="0"/>
                <a:ea typeface="Calibri" pitchFamily="34" charset="-122"/>
                <a:cs typeface="Calibri" pitchFamily="34" charset="-120"/>
              </a:rPr>
              <a:t>"Du må enten lære å bruke KI som et verktøy for egen tenkning, eller akseptere at andres tenkning, systemer og prioriteringer gradvis vil styre arbeidet ditt."
</a:t>
            </a:r>
            <a:pPr indent="0" marL="0">
              <a:buNone/>
            </a:pPr>
            <a:r>
              <a:rPr lang="en-US" sz="1400" b="1" dirty="0">
                <a:solidFill>
                  <a:srgbClr val="450D20"/>
                </a:solidFill>
                <a:latin typeface="Calibri" pitchFamily="34" charset="0"/>
                <a:ea typeface="Calibri" pitchFamily="34" charset="-122"/>
                <a:cs typeface="Calibri" pitchFamily="34" charset="-120"/>
              </a:rPr>
              <a:t>Kilde: </a:t>
            </a:r>
            <a:pPr indent="0" marL="0">
              <a:buNone/>
            </a:pPr>
            <a:r>
              <a:rPr lang="en-US" sz="1400" dirty="0">
                <a:solidFill>
                  <a:srgbClr val="450D20"/>
                </a:solidFill>
                <a:latin typeface="Calibri" pitchFamily="34" charset="0"/>
                <a:ea typeface="Calibri" pitchFamily="34" charset="-122"/>
                <a:cs typeface="Calibri" pitchFamily="34" charset="-120"/>
              </a:rPr>
              <a:t>DN-artikkel - "Du bruker KI feil"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50D2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400" b="1" dirty="0">
                <a:solidFill>
                  <a:srgbClr val="FBF0E5"/>
                </a:solidFill>
                <a:latin typeface="Calibri" pitchFamily="34" charset="0"/>
                <a:ea typeface="Calibri" pitchFamily="34" charset="-122"/>
                <a:cs typeface="Calibri" pitchFamily="34" charset="-120"/>
              </a:rPr>
              <a:t>Vi åpner rommet for diskusjon</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Miles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AI Tooling 2026</dc:title>
  <dc:subject>Fagkaffe, februar 2026</dc:subject>
  <dc:creator>Miles</dc:creator>
  <cp:lastModifiedBy>Miles</cp:lastModifiedBy>
  <cp:revision>1</cp:revision>
  <dcterms:created xsi:type="dcterms:W3CDTF">2026-02-09T12:01:41Z</dcterms:created>
  <dcterms:modified xsi:type="dcterms:W3CDTF">2026-02-09T12:01:41Z</dcterms:modified>
</cp:coreProperties>
</file>